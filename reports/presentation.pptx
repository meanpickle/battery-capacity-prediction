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8" r:id="rId4"/>
    <p:sldId id="262" r:id="rId5"/>
    <p:sldId id="297" r:id="rId6"/>
    <p:sldId id="300" r:id="rId7"/>
    <p:sldId id="299" r:id="rId9"/>
    <p:sldId id="303" r:id="rId10"/>
    <p:sldId id="304" r:id="rId11"/>
    <p:sldId id="306" r:id="rId12"/>
    <p:sldId id="307" r:id="rId13"/>
    <p:sldId id="294" r:id="rId14"/>
    <p:sldId id="295" r:id="rId15"/>
    <p:sldId id="302" r:id="rId16"/>
    <p:sldId id="301" r:id="rId17"/>
    <p:sldId id="305" r:id="rId18"/>
    <p:sldId id="310" r:id="rId19"/>
    <p:sldId id="311" r:id="rId20"/>
    <p:sldId id="28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4381"/>
    <a:srgbClr val="F7B651"/>
    <a:srgbClr val="9DC3E6"/>
    <a:srgbClr val="702F73"/>
    <a:srgbClr val="595959"/>
    <a:srgbClr val="8FC41C"/>
    <a:srgbClr val="26AEDE"/>
    <a:srgbClr val="EB67A1"/>
    <a:srgbClr val="AC1E1C"/>
    <a:srgbClr val="852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67"/>
      </p:cViewPr>
      <p:guideLst>
        <p:guide orient="horz" pos="21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8C990-4B60-4A54-ACB1-976FE75E1F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0A53D-CBC8-41AE-90F7-EB26C8020D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5"/>
          <p:cNvSpPr/>
          <p:nvPr userDrawn="1"/>
        </p:nvSpPr>
        <p:spPr>
          <a:xfrm>
            <a:off x="0" y="0"/>
            <a:ext cx="8238932" cy="6858000"/>
          </a:xfrm>
          <a:custGeom>
            <a:avLst/>
            <a:gdLst>
              <a:gd name="connsiteX0" fmla="*/ 0 w 7675927"/>
              <a:gd name="connsiteY0" fmla="*/ 0 h 6858000"/>
              <a:gd name="connsiteX1" fmla="*/ 7675927 w 7675927"/>
              <a:gd name="connsiteY1" fmla="*/ 0 h 6858000"/>
              <a:gd name="connsiteX2" fmla="*/ 7675927 w 7675927"/>
              <a:gd name="connsiteY2" fmla="*/ 6858000 h 6858000"/>
              <a:gd name="connsiteX3" fmla="*/ 0 w 7675927"/>
              <a:gd name="connsiteY3" fmla="*/ 6858000 h 6858000"/>
              <a:gd name="connsiteX4" fmla="*/ 0 w 7675927"/>
              <a:gd name="connsiteY4" fmla="*/ 0 h 6858000"/>
              <a:gd name="connsiteX0-1" fmla="*/ 0 w 7675927"/>
              <a:gd name="connsiteY0-2" fmla="*/ 0 h 6858000"/>
              <a:gd name="connsiteX1-3" fmla="*/ 7675927 w 7675927"/>
              <a:gd name="connsiteY1-4" fmla="*/ 0 h 6858000"/>
              <a:gd name="connsiteX2-5" fmla="*/ 7669764 w 7675927"/>
              <a:gd name="connsiteY2-6" fmla="*/ 3433665 h 6858000"/>
              <a:gd name="connsiteX3-7" fmla="*/ 7675927 w 7675927"/>
              <a:gd name="connsiteY3-8" fmla="*/ 6858000 h 6858000"/>
              <a:gd name="connsiteX4-9" fmla="*/ 0 w 7675927"/>
              <a:gd name="connsiteY4-10" fmla="*/ 6858000 h 6858000"/>
              <a:gd name="connsiteX5" fmla="*/ 0 w 7675927"/>
              <a:gd name="connsiteY5" fmla="*/ 0 h 6858000"/>
              <a:gd name="connsiteX0-11" fmla="*/ 0 w 9181326"/>
              <a:gd name="connsiteY0-12" fmla="*/ 0 h 6858000"/>
              <a:gd name="connsiteX1-13" fmla="*/ 7675927 w 9181326"/>
              <a:gd name="connsiteY1-14" fmla="*/ 0 h 6858000"/>
              <a:gd name="connsiteX2-15" fmla="*/ 9181324 w 9181326"/>
              <a:gd name="connsiteY2-16" fmla="*/ 3461657 h 6858000"/>
              <a:gd name="connsiteX3-17" fmla="*/ 7675927 w 9181326"/>
              <a:gd name="connsiteY3-18" fmla="*/ 6858000 h 6858000"/>
              <a:gd name="connsiteX4-19" fmla="*/ 0 w 9181326"/>
              <a:gd name="connsiteY4-20" fmla="*/ 6858000 h 6858000"/>
              <a:gd name="connsiteX5-21" fmla="*/ 0 w 9181326"/>
              <a:gd name="connsiteY5-22" fmla="*/ 0 h 6858000"/>
              <a:gd name="connsiteX0-23" fmla="*/ 0 w 9181328"/>
              <a:gd name="connsiteY0-24" fmla="*/ 0 h 6858000"/>
              <a:gd name="connsiteX1-25" fmla="*/ 7675927 w 9181328"/>
              <a:gd name="connsiteY1-26" fmla="*/ 0 h 6858000"/>
              <a:gd name="connsiteX2-27" fmla="*/ 9181324 w 9181328"/>
              <a:gd name="connsiteY2-28" fmla="*/ 3461657 h 6858000"/>
              <a:gd name="connsiteX3-29" fmla="*/ 7675927 w 9181328"/>
              <a:gd name="connsiteY3-30" fmla="*/ 6858000 h 6858000"/>
              <a:gd name="connsiteX4-31" fmla="*/ 0 w 9181328"/>
              <a:gd name="connsiteY4-32" fmla="*/ 6858000 h 6858000"/>
              <a:gd name="connsiteX5-33" fmla="*/ 0 w 9181328"/>
              <a:gd name="connsiteY5-34" fmla="*/ 0 h 6858000"/>
              <a:gd name="connsiteX0-35" fmla="*/ 0 w 9153337"/>
              <a:gd name="connsiteY0-36" fmla="*/ 0 h 6858000"/>
              <a:gd name="connsiteX1-37" fmla="*/ 7675927 w 9153337"/>
              <a:gd name="connsiteY1-38" fmla="*/ 0 h 6858000"/>
              <a:gd name="connsiteX2-39" fmla="*/ 9153333 w 9153337"/>
              <a:gd name="connsiteY2-40" fmla="*/ 3582955 h 6858000"/>
              <a:gd name="connsiteX3-41" fmla="*/ 7675927 w 9153337"/>
              <a:gd name="connsiteY3-42" fmla="*/ 6858000 h 6858000"/>
              <a:gd name="connsiteX4-43" fmla="*/ 0 w 9153337"/>
              <a:gd name="connsiteY4-44" fmla="*/ 6858000 h 6858000"/>
              <a:gd name="connsiteX5-45" fmla="*/ 0 w 9153337"/>
              <a:gd name="connsiteY5-46" fmla="*/ 0 h 6858000"/>
              <a:gd name="connsiteX0-47" fmla="*/ 0 w 9153339"/>
              <a:gd name="connsiteY0-48" fmla="*/ 0 h 6858000"/>
              <a:gd name="connsiteX1-49" fmla="*/ 7675927 w 9153339"/>
              <a:gd name="connsiteY1-50" fmla="*/ 0 h 6858000"/>
              <a:gd name="connsiteX2-51" fmla="*/ 9153333 w 9153339"/>
              <a:gd name="connsiteY2-52" fmla="*/ 3582955 h 6858000"/>
              <a:gd name="connsiteX3-53" fmla="*/ 7675927 w 9153339"/>
              <a:gd name="connsiteY3-54" fmla="*/ 6858000 h 6858000"/>
              <a:gd name="connsiteX4-55" fmla="*/ 0 w 9153339"/>
              <a:gd name="connsiteY4-56" fmla="*/ 6858000 h 6858000"/>
              <a:gd name="connsiteX5-57" fmla="*/ 0 w 9153339"/>
              <a:gd name="connsiteY5-58" fmla="*/ 0 h 6858000"/>
              <a:gd name="connsiteX0-59" fmla="*/ 0 w 9144008"/>
              <a:gd name="connsiteY0-60" fmla="*/ 0 h 6858000"/>
              <a:gd name="connsiteX1-61" fmla="*/ 7675927 w 9144008"/>
              <a:gd name="connsiteY1-62" fmla="*/ 0 h 6858000"/>
              <a:gd name="connsiteX2-63" fmla="*/ 9144002 w 9144008"/>
              <a:gd name="connsiteY2-64" fmla="*/ 3433665 h 6858000"/>
              <a:gd name="connsiteX3-65" fmla="*/ 7675927 w 9144008"/>
              <a:gd name="connsiteY3-66" fmla="*/ 6858000 h 6858000"/>
              <a:gd name="connsiteX4-67" fmla="*/ 0 w 9144008"/>
              <a:gd name="connsiteY4-68" fmla="*/ 6858000 h 6858000"/>
              <a:gd name="connsiteX5-69" fmla="*/ 0 w 9144008"/>
              <a:gd name="connsiteY5-70" fmla="*/ 0 h 6858000"/>
              <a:gd name="connsiteX0-71" fmla="*/ 0 w 9153339"/>
              <a:gd name="connsiteY0-72" fmla="*/ 0 h 6858000"/>
              <a:gd name="connsiteX1-73" fmla="*/ 7675927 w 9153339"/>
              <a:gd name="connsiteY1-74" fmla="*/ 0 h 6858000"/>
              <a:gd name="connsiteX2-75" fmla="*/ 9153333 w 9153339"/>
              <a:gd name="connsiteY2-76" fmla="*/ 3480318 h 6858000"/>
              <a:gd name="connsiteX3-77" fmla="*/ 7675927 w 9153339"/>
              <a:gd name="connsiteY3-78" fmla="*/ 6858000 h 6858000"/>
              <a:gd name="connsiteX4-79" fmla="*/ 0 w 9153339"/>
              <a:gd name="connsiteY4-80" fmla="*/ 6858000 h 6858000"/>
              <a:gd name="connsiteX5-81" fmla="*/ 0 w 9153339"/>
              <a:gd name="connsiteY5-8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9153339" h="6858000">
                <a:moveTo>
                  <a:pt x="0" y="0"/>
                </a:moveTo>
                <a:lnTo>
                  <a:pt x="7675927" y="0"/>
                </a:lnTo>
                <a:cubicBezTo>
                  <a:pt x="8644256" y="1088571"/>
                  <a:pt x="9155387" y="2335763"/>
                  <a:pt x="9153333" y="3480318"/>
                </a:cubicBezTo>
                <a:cubicBezTo>
                  <a:pt x="9155387" y="4621763"/>
                  <a:pt x="8485636" y="6024465"/>
                  <a:pt x="7675927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702F73">
              <a:alpha val="90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7961876" y="3151944"/>
            <a:ext cx="554111" cy="554111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02"/>
          <a:stretch>
            <a:fillRect/>
          </a:stretch>
        </p:blipFill>
        <p:spPr>
          <a:xfrm>
            <a:off x="0" y="0"/>
            <a:ext cx="4254759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0"/>
            <a:ext cx="4254759" cy="6858000"/>
          </a:xfrm>
          <a:prstGeom prst="rect">
            <a:avLst/>
          </a:prstGeom>
          <a:solidFill>
            <a:srgbClr val="702F7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3977702" y="3151944"/>
            <a:ext cx="554111" cy="554111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702F7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290486" y="3197165"/>
            <a:ext cx="463670" cy="463670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11505951" y="6251094"/>
            <a:ext cx="463670" cy="463670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504782" y="6300366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335902"/>
            <a:ext cx="513184" cy="503853"/>
          </a:xfrm>
          <a:prstGeom prst="rect">
            <a:avLst/>
          </a:prstGeom>
          <a:solidFill>
            <a:srgbClr val="702F7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35563" y="335902"/>
            <a:ext cx="10515600" cy="5492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702F7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582231" y="335902"/>
            <a:ext cx="45719" cy="503853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内容占位符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9" t="43817" r="4540" b="13726"/>
          <a:stretch>
            <a:fillRect/>
          </a:stretch>
        </p:blipFill>
        <p:spPr>
          <a:xfrm>
            <a:off x="10028853" y="259285"/>
            <a:ext cx="1940768" cy="7025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224155" y="1621790"/>
            <a:ext cx="722503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数据驱动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锂离子电池容量衰退预测研究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05341" y="4188078"/>
            <a:ext cx="287401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答辩人：周鹏程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朱冠儒 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指导老师：陈震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任品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泽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2025.12.31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8589" y="6446309"/>
            <a:ext cx="548036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      </a:t>
            </a:r>
            <a:r>
              <a:rPr 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BDMI</a:t>
            </a:r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6" y="214603"/>
            <a:ext cx="2528596" cy="88091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4155" y="3129915"/>
            <a:ext cx="850646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针对商用 18650 电池老化过程中的内在差异性分析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57615" y="3105808"/>
            <a:ext cx="5414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一、选题背景及意义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790700" y="2706343"/>
            <a:ext cx="9525" cy="1539879"/>
          </a:xfrm>
          <a:prstGeom prst="line">
            <a:avLst/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57615" y="3289155"/>
            <a:ext cx="7381875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>
                <a:srgbClr val="ABA69F"/>
              </a:buClr>
              <a:buSzPct val="80000"/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6" y="214603"/>
            <a:ext cx="2528596" cy="880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88925" y="885190"/>
            <a:ext cx="10735945" cy="609282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应用场景：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锂离子电池广泛应用于电动汽车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(EV)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和电网储能系统，通常需要大量电芯串联成组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为了优化性能，工业界通常在出厂时对电芯进行筛选和匹配（如匹配容量和阻抗） 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然而，预测成千上万个电芯的长周期循环寿命极具挑战性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目标变量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(Target)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discharge_capacity_in_Ah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（放电容量）：直接反映电池健康状态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(SOH)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1000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次循环后衰减至初始值的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50%-60%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关键输入特征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(Input Features)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倍率性能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(Rate Capability)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研究表明，倍率性能的变化与容量损失有极强的相关性。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增量容量曲线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(IC Curves)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捕捉电池内部相变特征，反映峰值强度和位置的偏移。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电压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电流时序数据：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充电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放电过程中的完整曲线，蕴含老化路径信息。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内阻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(Resistance)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循环过程中平均增加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80%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机器学习方法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7180" y="885190"/>
            <a:ext cx="11057255" cy="378460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捕捉长期趋势：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电池衰减是一个长达数百甚至上千周期的过程，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能够跨越很长的循环步长，捕捉早期特征对后期容量衰减的影响。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多变量融合：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能够很好地同时处理电压、电流、温度等多维特征，并识别哪些特征在特定阶段对预测最重要。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优点：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预测精度极高（如您上传的图片所示），在处理复杂、长周期的非线性衰减时表现卓越。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缺点：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计算量大，需要大量的训练数据才能发挥优势。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机器学习方法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7180" y="885190"/>
            <a:ext cx="11517630" cy="2269490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XGBoost (Extreme Gradient Boosting)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XGBoost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属于集成学习中的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梯度提升决策树（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GBDT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。它的原理是不断添加新的决策树，每一棵新树都去学习之前所有树留下的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残差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（预测误差），最后将所有树的结果加权求和，形成最终预测。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6991350" y="3060065"/>
            <a:ext cx="3957955" cy="30073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7180" y="2880995"/>
            <a:ext cx="614997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特征提取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它可以计算各个输入特征的重要性评分，筛选出最有用的预测因子。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回归预测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将电池状态看作一种复杂的非线性函数映射。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优点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运行速度极快，对异常值（数据噪声）有很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强的鲁棒性，且在小样本数据集上往往比深度学习模型表现得更好。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机器学习方法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7180" y="885190"/>
            <a:ext cx="11720830" cy="597217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LSTM (Long Short-Term Memory)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LSTM 是一种特殊的循环神经网络（RNN），设计了遗忘门、输入门和输出门。这些门控结构允许模型有选择地记住重要的历史信息，并忘掉无关的噪声，解决了普通 RNN 在长序列训练中的“梯度消失”问题。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400" y="2615565"/>
            <a:ext cx="4186555" cy="34150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4810" y="2792095"/>
            <a:ext cx="69342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时序建模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LSTM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天然适合处理这种带有先后顺序的数据。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动态跟踪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能够根据前几个循环的状态，动态地预测下一个循环的容量变化，非常适合在线监测。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优点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在中短序列上表现稳定，对硬件要求比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低，是目前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BMS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（电池管理系统）中最成熟的深度学习方案。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缺点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无法并行化训练，且在序列极长时，其记忆力仍不如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的全局注意力。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88925" y="885190"/>
            <a:ext cx="10735945" cy="42462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中值滤波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中值滤波是一种非线性平滑技术。它将滑动窗口内的所有数值按大小排序，取其中的中位数作为中心点的新值。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为了优化性能，工业界通常在出厂时对电芯进行筛选和匹配（如匹配容量和阻抗） 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然而，预测成千上万个电芯的长周期循环寿命极具挑战性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卡尔曼滤波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卡尔曼滤波是一种递归估计算法。它不只是“滤波”，它更像是一个预测器。它结合“模型预测值”和“传感器测量值”，通过计算两者的权重（卡尔曼增益），给出一个最接近真实值的估计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88925" y="885190"/>
            <a:ext cx="1073594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小波变换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通过不同尺度的小波基函数对信号进行分解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将电池原始信号分解，去掉代表随机噪声的高频分量，再重构信号，得到的曲线更加平滑且保真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电池内部发生微短路时，电压会有极其细微的突变，小波变换能把这些藏在正常波动里的“细节”提取出来。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6381115" y="3596005"/>
            <a:ext cx="4335145" cy="292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8000" y="26904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88925" y="885190"/>
            <a:ext cx="10961370" cy="1645285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Daubechies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）是一种离散小波变换（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DWT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）中常用的基于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Daubechies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小波族的变换。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Daubechies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小波族由数学家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Ingrid Daubechies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1988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年提出，并且具有有限长度支持，意味着它们是紧支撑的，这使得它们在信号处理中的应用特别有用。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0" y="26904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88925" y="2421255"/>
            <a:ext cx="6096000" cy="4554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Daubechies 小波（db4）的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特点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长度和对称性：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db4是Daubechies小波族中最常用的一种，其中“4”表示小波的长度，即它的滤波器包含4个系数（这四个系数在时域中的长度为4）。这个长度控制了小波的平滑度和细节保留能力。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db4是非对称的小波，因此它在频域中具有较好的局部化性。相较于对称的小波，它更适合捕捉信号中的细节变化。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7314565" y="2421255"/>
            <a:ext cx="3491865" cy="417766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选题背景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88925" y="967105"/>
            <a:ext cx="10961370" cy="589089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小波的性质：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Daubechies小波具有良好的时频局部化能力，可以同时在时间域和频域上对信号进行有效的分析。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db4小波相对较为平滑，适用于需要较高精度去除噪声和保留细节的任务。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分解应用：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db4小波常用于信号处理、图像压缩、数据去噪和特征提取等领域。在图像处理时，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db4小波的多尺度分解非常适合用于对图像的细节和纹理进行分析。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0" y="26904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57615" y="3105808"/>
            <a:ext cx="54147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三、实验结果与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790700" y="2706343"/>
            <a:ext cx="9525" cy="1539879"/>
          </a:xfrm>
          <a:prstGeom prst="line">
            <a:avLst/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57615" y="3289155"/>
            <a:ext cx="7381875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>
                <a:srgbClr val="ABA69F"/>
              </a:buClr>
              <a:buSzPct val="80000"/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6" y="214603"/>
            <a:ext cx="2528596" cy="880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7180" y="885190"/>
            <a:ext cx="1085786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3820" y="3966210"/>
            <a:ext cx="371602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每个</a:t>
            </a:r>
            <a:r>
              <a:rPr lang="en-US" altLang="zh-CN" sz="1400"/>
              <a:t> cycle </a:t>
            </a:r>
            <a:r>
              <a:rPr lang="zh-CN" altLang="en-US" sz="1400"/>
              <a:t>的统计特征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zh-CN" altLang="en-US" sz="1400"/>
              <a:t>线性嵌入（</a:t>
            </a:r>
            <a:r>
              <a:rPr lang="en-US" altLang="zh-CN" sz="1400"/>
              <a:t>feature </a:t>
            </a:r>
            <a:r>
              <a:rPr lang="en-US" altLang="en-US" sz="1400"/>
              <a:t>→</a:t>
            </a:r>
            <a:r>
              <a:rPr lang="en-US" altLang="zh-CN" sz="1400"/>
              <a:t> D_MODEL</a:t>
            </a:r>
            <a:r>
              <a:rPr lang="zh-CN" altLang="en-US" sz="1400"/>
              <a:t>）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zh-CN" altLang="en-US" sz="1400"/>
              <a:t>位置编码（</a:t>
            </a:r>
            <a:r>
              <a:rPr lang="en-US" altLang="zh-CN" sz="1400"/>
              <a:t>cycle </a:t>
            </a:r>
            <a:r>
              <a:rPr lang="zh-CN" altLang="en-US" sz="1400"/>
              <a:t>位置信息）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en-US" altLang="zh-CN" sz="1400"/>
              <a:t>Transformer Encoder </a:t>
            </a:r>
            <a:r>
              <a:rPr lang="en-US" altLang="en-US" sz="1400"/>
              <a:t>×</a:t>
            </a:r>
            <a:r>
              <a:rPr lang="en-US" altLang="zh-CN" sz="1400"/>
              <a:t>N_LAYERS</a:t>
            </a:r>
            <a:endParaRPr lang="en-US" altLang="zh-CN" sz="1400"/>
          </a:p>
          <a:p>
            <a:r>
              <a:rPr lang="en-US" altLang="zh-CN" sz="1400"/>
              <a:t>  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zh-CN" altLang="en-US" sz="1400"/>
              <a:t>取最后一个时间步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zh-CN" altLang="en-US" sz="1400"/>
              <a:t>回归头（</a:t>
            </a:r>
            <a:r>
              <a:rPr lang="en-US" altLang="zh-CN" sz="1400"/>
              <a:t>MLP</a:t>
            </a:r>
            <a:r>
              <a:rPr lang="zh-CN" altLang="en-US" sz="1400"/>
              <a:t>）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zh-CN" altLang="en-US" sz="1400"/>
              <a:t>预测下一</a:t>
            </a:r>
            <a:r>
              <a:rPr lang="en-US" altLang="zh-CN" sz="1400"/>
              <a:t> cycle </a:t>
            </a:r>
            <a:r>
              <a:rPr lang="zh-CN" altLang="en-US" sz="1400"/>
              <a:t>的容量</a:t>
            </a:r>
            <a:endParaRPr lang="zh-CN" altLang="en-US" sz="1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45" y="1539240"/>
            <a:ext cx="4414520" cy="25368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515" y="1539240"/>
            <a:ext cx="5331460" cy="25050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97180" y="4287520"/>
            <a:ext cx="756729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收敛速度快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:训练损失（蓝色线）在最初的几个 Epoch 内迅速下降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均方误差(MSE)极低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最终的 MSE 稳定在 0.005 以下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泛化表现良好: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测试损失整体紧随训练曲线，并未出现明显的过拟合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7180" y="885190"/>
            <a:ext cx="1085786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XG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boost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xgboost_result"/>
          <p:cNvPicPr>
            <a:picLocks noChangeAspect="1"/>
          </p:cNvPicPr>
          <p:nvPr/>
        </p:nvPicPr>
        <p:blipFill>
          <a:blip r:embed="rId1"/>
          <a:srcRect r="49035"/>
          <a:stretch>
            <a:fillRect/>
          </a:stretch>
        </p:blipFill>
        <p:spPr>
          <a:xfrm>
            <a:off x="1229360" y="1438275"/>
            <a:ext cx="4029075" cy="2635250"/>
          </a:xfrm>
          <a:prstGeom prst="rect">
            <a:avLst/>
          </a:prstGeom>
        </p:spPr>
      </p:pic>
      <p:pic>
        <p:nvPicPr>
          <p:cNvPr id="5" name="图片 4" descr="xgboost_result"/>
          <p:cNvPicPr>
            <a:picLocks noChangeAspect="1"/>
          </p:cNvPicPr>
          <p:nvPr/>
        </p:nvPicPr>
        <p:blipFill>
          <a:blip r:embed="rId1"/>
          <a:srcRect l="50448"/>
          <a:stretch>
            <a:fillRect/>
          </a:stretch>
        </p:blipFill>
        <p:spPr>
          <a:xfrm>
            <a:off x="6231890" y="1438275"/>
            <a:ext cx="4234180" cy="28486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97180" y="4073525"/>
            <a:ext cx="1152652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明显的泛化间隙与轻微过拟合倾向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：训练集 MSE持续下降，但验证集 MSE 在约 150 轮迭代后就进入了平台期，且与训练曲线之间存在显著的距离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在电池容量出现细微回升或剧烈波动时，XGBoost 的反应略显迟钝或过于剧烈，预测曲线显得比 Transformer 更抖动，不如 Transformer 那样自然平滑。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7180" y="885190"/>
            <a:ext cx="1085786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LSTM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10" y="1685290"/>
            <a:ext cx="4436110" cy="2957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045" y="1766570"/>
            <a:ext cx="5339080" cy="27787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40130" y="4733925"/>
            <a:ext cx="756729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收敛速度快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:训练损失（蓝色线）在最初的几个 Epoch 内迅速下降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均方误差(MSE)极低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最终的 MSE 稳定在 0.005 以下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泛化表现良好: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测试损失整体紧随训练曲线，并未出现明显的过拟合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小波变换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32510" y="5974080"/>
            <a:ext cx="428879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小波变换后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e1a185e0b2e3504137781419e2cebc1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945515"/>
            <a:ext cx="3863975" cy="25761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885" y="885190"/>
            <a:ext cx="3822700" cy="25488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07935" y="5974080"/>
            <a:ext cx="304165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小波变换后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LSTM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运行结果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3582035"/>
            <a:ext cx="4832985" cy="24110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3434080"/>
            <a:ext cx="4445000" cy="25400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sym typeface="+mn-ea"/>
              </a:rPr>
              <a:t>小波变换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7180" y="885190"/>
            <a:ext cx="1085786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0845" y="1438275"/>
            <a:ext cx="9865360" cy="604710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LSTM本身就在做动态滤波，如果再做小波变换相当于双重平滑了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模型只能学到平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均退化形态，db4的小波变换去掉了去掉高频噪声， 同时去掉了：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容量骤降前的微小 precursor和局部退化加速信息，小波变换只能让方差降低，也就是让曲线相比之前更平滑一点，但是偏差会变大（就像原本曲线里提到的存在系统性偏差（bias）：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前期容量被低估；后期容量被高估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Transformer+wavelet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在重构信号时，低频近似分量（Approximation coefficients）处理不当，会导致重构后的信号在数值上整体“下沉”或“漂移”。预测值整体偏低，极有可能是因为小波处理改变了原始数据的均值或尺度。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r>
              <a:rPr lang="zh-CN" altLang="en-US"/>
              <a:t>    </a:t>
            </a:r>
            <a:r>
              <a:rPr lang="en-US" altLang="zh-CN"/>
              <a:t>/30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6480" y="2746375"/>
            <a:ext cx="3626485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小波变换后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52365" y="2740660"/>
            <a:ext cx="304165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小波变换后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LSTM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运行结果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995045"/>
            <a:ext cx="3607901" cy="18000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4672965" y="896620"/>
            <a:ext cx="3600000" cy="18000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743585" y="3302635"/>
            <a:ext cx="3600000" cy="18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965" y="3371850"/>
            <a:ext cx="3600000" cy="187389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285875" y="5114290"/>
            <a:ext cx="251523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运行结果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06085" y="5102860"/>
            <a:ext cx="193421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LSTM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运行结果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4" name="图片 13" descr="xgboost_result"/>
          <p:cNvPicPr/>
          <p:nvPr/>
        </p:nvPicPr>
        <p:blipFill>
          <a:blip r:embed="rId5"/>
          <a:srcRect l="50448"/>
          <a:stretch>
            <a:fillRect/>
          </a:stretch>
        </p:blipFill>
        <p:spPr>
          <a:xfrm>
            <a:off x="8394065" y="3302635"/>
            <a:ext cx="3640455" cy="1800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316720" y="5114290"/>
            <a:ext cx="221805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XGboost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运行结果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6" y="214603"/>
            <a:ext cx="2528596" cy="880912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6810" y="2695409"/>
            <a:ext cx="757130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感谢您的聆听，请批评指导</a:t>
            </a:r>
            <a:endParaRPr lang="zh-CN" altLang="zh-C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3788" y="3615308"/>
            <a:ext cx="2949575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答辩人：周鹏程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朱冠儒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指导老师：陈震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任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品泽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8589" y="6446309"/>
            <a:ext cx="548036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        </a:t>
            </a:r>
            <a:r>
              <a:rPr 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BDMI</a:t>
            </a:r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3267</Words>
  <Application>WPS 演示</Application>
  <PresentationFormat>宽屏</PresentationFormat>
  <Paragraphs>214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Arial</vt:lpstr>
      <vt:lpstr>Calibri</vt:lpstr>
      <vt:lpstr>Arial Unicode MS</vt:lpstr>
      <vt:lpstr>Calibri Light</vt:lpstr>
      <vt:lpstr>等线</vt:lpstr>
      <vt:lpstr>Office 主题</vt:lpstr>
      <vt:lpstr>PowerPoint 演示文稿</vt:lpstr>
      <vt:lpstr>PowerPoint 演示文稿</vt:lpstr>
      <vt:lpstr>选题背景</vt:lpstr>
      <vt:lpstr>选题背景-机器学习方法</vt:lpstr>
      <vt:lpstr>选题背景-机器学习方法</vt:lpstr>
      <vt:lpstr>选题背景-机器学习方法</vt:lpstr>
      <vt:lpstr>选题背景-数据处理</vt:lpstr>
      <vt:lpstr>选题背景-数据处理</vt:lpstr>
      <vt:lpstr>选题背景-数据处理</vt:lpstr>
      <vt:lpstr>选题背景-数据处理</vt:lpstr>
      <vt:lpstr>PowerPoint 演示文稿</vt:lpstr>
      <vt:lpstr>实验结果</vt:lpstr>
      <vt:lpstr>实验结果</vt:lpstr>
      <vt:lpstr>实验结果</vt:lpstr>
      <vt:lpstr>实验结果</vt:lpstr>
      <vt:lpstr>实验结果</vt:lpstr>
      <vt:lpstr>实验结果-小波变换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周鹏程(2022012801)</cp:lastModifiedBy>
  <cp:revision>50</cp:revision>
  <dcterms:created xsi:type="dcterms:W3CDTF">2015-05-05T08:02:00Z</dcterms:created>
  <dcterms:modified xsi:type="dcterms:W3CDTF">2025-12-28T10:49:28Z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DDD46857F66A4647A6C9458E98E65399_13</vt:lpwstr>
  </property>
</Properties>
</file>